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 인사. '잘못한 사람 찾기'가 아니라 '함께 들여다보는' 시간임을 강조. 누구도 지목·비난하지 않음을 약속.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규칙 안내: 사례마다 옆 사람과 30초 페어 토크 후 함께 판단. 편하게 참여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손들기 참여 유도. '생각보다 많죠.' 회색지대를 오늘 함께 밝혀보자고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길어 보이지만 핵심은 세 덩어리라고 예고하고 다음 슬라이드로.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요건을 하나씩 짚되, '동시 충족'이 핵심임을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우위 개념 확장이 상향식 괴롭힘의 열쇠. 다음 사례 섹션으로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판례 퀴즈: 상황·대화를 보여주고 O/X로 손들기 → 실제 판결 공개. 5건 인정(O), 2건 불인정(X). 인정/불인정 대비로 기준을 체감시키기.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공개성 + 의도적 고립이 핵심. 대법원이 인정한 대표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‘한두 번이라도 공개적이면 인정될 수 있다’는 점과 직접 연결되는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핵심 메시지. 다수의 우위 개념(슬라이드 6)과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뒷담화·조직적 배제도 근무환경 악화로 보아 인정한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‘정당한 권리 행사’를 방해하는 것도 괴롭힘이 될 수 있음을 보여주는 사례.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부하라도 나이·경력 등 ‘관계 등의 우위’를 이용하면 상향식 괴롭힘이 인정된 실제 사례. (사건번호는 별도 확인 권장)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앞의 인정 사례들과 대비. 횟수보다 ‘정도·공개성·맥락’이 갈림을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대부분 ‘O’라고 답하기 쉬운 함정 사례. ‘녹음 지우라’는 표현이 특히 헷갈리게 함. 정당한 질책과 괴롭힘의 경계를 보여주며 다음 슬라이드(회색지대)로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안심 메시지. 다음 슬라이드에서 구분 기준 4가지 제시.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기준을 종합적으로 본다는 점. 다음 슬라이드에서 같은 상황의 대비 예시.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대비를 통해 구분 기준을 체감시키기. 관리자들이 안심하도록.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재단 내부 신고 창구·담당자 실제 정보로 보강. 근거: 근로기준법 제76조의3, 제109조(벌칙), 제116조(과태료).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목격자의 작은 행동이 큰 차이를 만든다는 메시지.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사례를 ‘존중’이라는 키워드로 묶는 전환 슬라이드. 형태는 달라도 공통 원인은 존중의 부재라는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존중을 구체 행동으로. 각 항목이 앞 사례와 연결됨(공개 망신/상향식 다름 인정/육아휴직 권리/단톡방 배제).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자기성찰 시간. 손을 들지 않아도 되는 개인 체크로, 조용히 1~2분. 강요하지 않고 ‘한 가지만 정해보자’로 부드럽게.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활동 슬라이드. 30초~1분 작성 후 옆 사람과 공유. 한두 명 자원자 발표를 받으면 분위기가 살아남. 다짐을 ‘나부터, 오늘부터’(마지막 장)로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기관의 사명과 내부 문화를 연결하는 메시지. 규정 준수 너머의 존중.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문구 ‘존중하는 일터, 함께 만드는 우리’로 수미상관. 앞서 적은 다짐과 연결해 마무리. 신고·상담 창구는 실제 정보로 채워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F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5455" y="-1828800"/>
            <a:ext cx="5669280" cy="5669280"/>
          </a:xfrm>
          <a:prstGeom prst="ellipse">
            <a:avLst/>
          </a:prstGeom>
          <a:solidFill>
            <a:srgbClr val="6D2E46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22815" y="3291840"/>
            <a:ext cx="3840480" cy="3840480"/>
          </a:xfrm>
          <a:prstGeom prst="ellipse">
            <a:avLst/>
          </a:prstGeom>
          <a:solidFill>
            <a:srgbClr val="B5828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371600"/>
            <a:ext cx="1371600" cy="1371600"/>
          </a:xfrm>
          <a:prstGeom prst="ellipse">
            <a:avLst/>
          </a:prstGeom>
          <a:solidFill>
            <a:srgbClr val="3F1E3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1664208"/>
            <a:ext cx="786384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전북여성가족재단 임직원 교육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존중하는 일터,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만드는 우리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D9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 내 괴롭힘 예방교육 · 60분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5074920"/>
            <a:ext cx="2011680" cy="0"/>
          </a:xfrm>
          <a:prstGeom prst="line">
            <a:avLst/>
          </a:prstGeom>
          <a:noFill/>
          <a:ln w="25400">
            <a:solidFill>
              <a:srgbClr val="C79A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03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B7C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강사 ______________   |   일시 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오늘의 약속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2743200"/>
          </a:xfrm>
          <a:prstGeom prst="rect">
            <a:avLst/>
          </a:prstGeom>
          <a:solidFill>
            <a:srgbClr val="F4ED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68680" cy="8686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4963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 판단합니다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 맞히기가 아니라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사례를 같이 들여다보는 시간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61688" y="1920240"/>
            <a:ext cx="3429000" cy="2743200"/>
          </a:xfrm>
          <a:prstGeom prst="rect">
            <a:avLst/>
          </a:prstGeom>
          <a:solidFill>
            <a:srgbClr val="F4ED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286000"/>
            <a:ext cx="868680" cy="8686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496312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심리적 안전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81728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누구도 지목하거나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비난하지 않습니다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83296" y="1920240"/>
            <a:ext cx="3429000" cy="2743200"/>
          </a:xfrm>
          <a:prstGeom prst="rect">
            <a:avLst/>
          </a:prstGeom>
          <a:solidFill>
            <a:srgbClr val="F4EDF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03336" y="2286000"/>
            <a:ext cx="868680" cy="8686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496312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337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60분의 흐름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403336" y="37947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개념 → 사례 → 구분 → 대응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순으로 진행합니다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2240280"/>
            <a:ext cx="2103120" cy="210312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688" y="2852928"/>
            <a:ext cx="877824" cy="877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640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도입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0" y="15544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“이게 괴롭힘인가?”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0" y="2286000"/>
            <a:ext cx="6126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최근 1년 안에, 직장에서 불편했지만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‘내가 예민한 건가?’ 애매했던 순간이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있으셨나요?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486400" y="4023360"/>
            <a:ext cx="6035040" cy="146304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0" y="4023360"/>
            <a:ext cx="91440" cy="1463040"/>
          </a:xfrm>
          <a:prstGeom prst="rect">
            <a:avLst/>
          </a:prstGeom>
          <a:solidFill>
            <a:srgbClr val="C79A4B"/>
          </a:solidFill>
          <a:ln/>
        </p:spPr>
      </p:sp>
      <p:sp>
        <p:nvSpPr>
          <p:cNvPr id="10" name="Text 7"/>
          <p:cNvSpPr/>
          <p:nvPr/>
        </p:nvSpPr>
        <p:spPr>
          <a:xfrm>
            <a:off x="5806440" y="4251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 내 괴롭힘은 누가 봐도 명백한 폭력보다,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대부분 ‘애매한 회색지대’에서 시작됩니다.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 내 괴롭힘이란?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188720" cy="1188720"/>
          </a:xfrm>
          <a:prstGeom prst="ellipse">
            <a:avLst/>
          </a:prstGeom>
          <a:solidFill>
            <a:srgbClr val="F4ED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44144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근로기준법 제76조의2  ·  고용노동부 소관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103120" y="260604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직장에서의 </a:t>
            </a:r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지위 또는 관계 등의 우위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를 이용해, </a:t>
            </a:r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업무상 적정 범위를 넘어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다른 근로자에게 </a:t>
            </a:r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신체적·정신적 고통을 주거나 근무환경을 악화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시키는 행위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10312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“명백한 폭언”만이 아니라, 따돌림·배제·과도한 업무까지 폭넓게 포함됩니다.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 REQUIREMENTS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‘3대 요건’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429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31720"/>
            <a:ext cx="731520" cy="7315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지위·관계 등의 우위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직급뿐 아니라 수·나이·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경력·정보의 우위 포함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196596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1688" y="1965960"/>
            <a:ext cx="3429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2" name="Shape 10"/>
          <p:cNvSpPr/>
          <p:nvPr/>
        </p:nvSpPr>
        <p:spPr>
          <a:xfrm>
            <a:off x="4681728" y="2331720"/>
            <a:ext cx="731520" cy="7315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81728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업무상 적정범위 초과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81728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업무와 무관하거나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범위를 넘어선 행위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83296" y="1965960"/>
            <a:ext cx="34290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83296" y="1965960"/>
            <a:ext cx="3429000" cy="109728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8" name="Shape 16"/>
          <p:cNvSpPr/>
          <p:nvPr/>
        </p:nvSpPr>
        <p:spPr>
          <a:xfrm>
            <a:off x="8403336" y="2331720"/>
            <a:ext cx="731520" cy="7315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19" name="Text 17"/>
          <p:cNvSpPr/>
          <p:nvPr/>
        </p:nvSpPr>
        <p:spPr>
          <a:xfrm>
            <a:off x="8403336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403336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고통·근무환경 악화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03336" y="36576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신체적·정신적 고통을 주거나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일하기 어려운 환경을 만듦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92040"/>
            <a:ext cx="10911535" cy="68580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48920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✓  세 가지가 ‘따로’가 아니라 ‘동시에’ 충족되어야 직장 내 괴롭힘으로 봅니다.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KEY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‘우위’는 직급만이 아닙니다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43000" y="219456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지위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331720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364992" y="219456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4688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62072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수(數)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53712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5586984" y="219456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46888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84064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775704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7808976" y="219456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246888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06056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경력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997696" y="25146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+</a:t>
            </a:r>
            <a:endParaRPr lang="en-US" sz="2200" dirty="0"/>
          </a:p>
        </p:txBody>
      </p:sp>
      <p:sp>
        <p:nvSpPr>
          <p:cNvPr id="20" name="Shape 14"/>
          <p:cNvSpPr/>
          <p:nvPr/>
        </p:nvSpPr>
        <p:spPr>
          <a:xfrm>
            <a:off x="10030968" y="219456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288" y="246888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28048" y="34290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정보</a:t>
            </a:r>
            <a:endParaRPr lang="en-US" sz="1700" dirty="0"/>
          </a:p>
        </p:txBody>
      </p:sp>
      <p:sp>
        <p:nvSpPr>
          <p:cNvPr id="23" name="Shape 16"/>
          <p:cNvSpPr/>
          <p:nvPr/>
        </p:nvSpPr>
        <p:spPr>
          <a:xfrm>
            <a:off x="640080" y="4297680"/>
            <a:ext cx="10911535" cy="128016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24" name="Shape 17"/>
          <p:cNvSpPr/>
          <p:nvPr/>
        </p:nvSpPr>
        <p:spPr>
          <a:xfrm>
            <a:off x="640080" y="4297680"/>
            <a:ext cx="109728" cy="1280160"/>
          </a:xfrm>
          <a:prstGeom prst="rect">
            <a:avLst/>
          </a:prstGeom>
          <a:solidFill>
            <a:srgbClr val="C79A4B"/>
          </a:solidFill>
          <a:ln/>
        </p:spPr>
      </p:sp>
      <p:sp>
        <p:nvSpPr>
          <p:cNvPr id="25" name="Text 18"/>
          <p:cNvSpPr/>
          <p:nvPr/>
        </p:nvSpPr>
        <p:spPr>
          <a:xfrm>
            <a:off x="1005840" y="4434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그래서 부하직원도, 동료도 가해자가 될 수 있습니다.</a:t>
            </a:r>
            <a:endParaRPr lang="en-US" sz="2100" dirty="0"/>
          </a:p>
        </p:txBody>
      </p:sp>
      <p:sp>
        <p:nvSpPr>
          <p:cNvPr id="26" name="Text 19"/>
          <p:cNvSpPr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오늘의 핵심, ‘상향식 괴롭힘’으로 이어집니다.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F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5029200" cy="5029200"/>
          </a:xfrm>
          <a:prstGeom prst="ellipse">
            <a:avLst/>
          </a:prstGeom>
          <a:solidFill>
            <a:srgbClr val="6D2E4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265615" y="-1645920"/>
            <a:ext cx="4572000" cy="4572000"/>
          </a:xfrm>
          <a:prstGeom prst="ellipse">
            <a:avLst/>
          </a:prstGeom>
          <a:solidFill>
            <a:srgbClr val="B582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REAL CASE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퀴즈 · O / X로 맞혀 봅시다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D9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모두 실제 법원 판결입니다. ‘인정’된 사례도, ‘불인정’된 사례도 함께 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840480"/>
            <a:ext cx="3383280" cy="1188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대화·상황을 봅니다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3840480"/>
            <a:ext cx="3383280" cy="1188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 / X 로 답해 봅니다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46720" y="3840480"/>
            <a:ext cx="3383280" cy="118872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4023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21040" y="4526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판결을 확인합니다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1 — 따돌림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①  공개 비하와 고립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따돌림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직원이 부서에 합류한 뒤, 상급자가 다른 직원들이 모두 있는 자리에서 그의 업무 능력을 거듭 깎아내렸다. 나아가 동료들에게 그를 도와주거나 말을 섞지 말라고 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↔ 피해자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상급자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“회계도 모르는 사람이 와서 분위기를 흐린다.”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· 직원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“부족한 부분은 배우겠습니다. 도와주실 수 있을까요?”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상급자 (동료들에게)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303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“저 사람 일할 때 아무도 말 걸지 마세요.”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B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B23B3B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O — 괴롭힘 인정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공개적 능력 비하와 의도적 고립(‘투명인간’ 취급)을 괴롭힘으로 인정했습니다. (대법원 2016두56042)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2 — 공개 망신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②  회식 자리 질책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망신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회식에 참석하지 않으려던 직원에게 상사가 강하게 질책했고, 같은 회식 자리에서는 이사장이 특정 직원에게 건배사를 거듭 시키며 망신을 줬다.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↔ 피해자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· 직원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“오늘은 사정이 있어 회식에 빠지겠습니다.”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상사 (책상을 치며)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“너 오늘 직원회의(회식) 있는 거 알아, 몰라?”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이사장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303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“건배사 다시. 한 번 더. 다시 해봐.” (세 번 강요)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B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B23B3B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O — 괴롭힘 인정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공개적 질책과 건배사 강요를 업무 범위를 넘은 괴롭힘으로 봤습니다. 횟수가 적어도 공개성이 핵심. (광주지법 2023가단552584)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F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9775" y="1828800"/>
            <a:ext cx="5029200" cy="50292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CASE — 상향식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상향식 괴롭힘 — 가장 큰 오해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914400" cy="914400"/>
          </a:xfrm>
          <a:prstGeom prst="ellipse">
            <a:avLst/>
          </a:prstGeom>
          <a:solidFill>
            <a:srgbClr val="C79A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89864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6974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EAD9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“직급이 위면 피해자가 될 수 없다?”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 아니오.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10911535" cy="155448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114800"/>
            <a:ext cx="101800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상향식 괴롭힘은 ‘설마 상사가 피해자겠어?’ 하는 시선 때문에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신고도 어렵고, 훨씬 오래 방치되는 경우가 많습니다.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3 — 동료 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③  선배의 지속적 따돌림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동료 간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선배 직원이 후배를 오랜 기간 표적으로 삼아 모욕하고, 뒷담화와 업무 배제를 반복했다. 후배는 점차 부서에서 고립되어 갔다.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↔ 피해자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선배 (동료들에게)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“쟤는 원래 저래. 같이 일하기 싫다니까.”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· 후배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“제가 뭘 잘못했는지 알려주시면 고치겠습니다.”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49926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이후로도 모욕과 따돌림이 계속돼 근무환경이 크게 악화됐다.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B2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B2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O — 괴롭힘 인정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지속적 모욕·따돌림을 괴롭힘으로 인정해 위자료 1,000만 원을 선고했습니다. (수원지법 2022가단569718)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4 — 권리행사 방해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④  육아휴직 눈치주기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하향식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남성 직원이 육아휴직을 신청하려 하자, 상사가 부정적인 반응을 보이며 다른 방법을 찾으라는 식으로 사용을 망설이게 만들었다.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↔ 피해자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· 직원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“육아휴직을 신청하려고 합니다.”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상사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“남자라서 육아휴직은 굳이 얘기 안 해도 될 줄 알았어요.”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상사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303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“다른 방법을 강구해야 하지 않겠어요?”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B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B23B3B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O — 괴롭힘 인정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권리(육아휴직) 사용에 눈치를 주고 압박한 것은 근무환경을 악화시키는 괴롭힘이라고 봤습니다. (광주지법 2024구합11587)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5 — 상향식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⑤  나이 많은 부하의 압박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상향식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행위자는 조원(부하)이지만, 피해자인 조장(상급자)보다 나이가 많고 경력도 길었다. 그는 나이·경력을 내세워 조장의 지도·감독을 따르지 않고, 비꼬는 말투로 맞섰다.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↔ 피해자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· 조장(상급자)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37160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“안테나 덮개 손상 건, 조치 좀 부탁드립니다.”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가해자 · 조원(부하)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“내가 경력이 얼만데. 그건 그쪽이 알아서 하세요.”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49926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나이·경력을 앞세워 정당한 지도·감독을 거부하고 부당하게 맞섰다.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B23B3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FBEAEA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B23B3B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O — 상향식 괴롭힘 인정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부하라도 나이·경력의 ‘우위’를 이용해 상급자의 지도·감독을 무시하고 부당하게 압박하면 괴롭힘으로 인정됩니다. (서울행정법원 판결)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6 — 1회성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⑥  우발적 욕설 한 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1회성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통화 중, 상대의 일 처리 방식에 화가 난 사람이 순간적으로 욕설을 했다. 그러나 같은 통화 뒷부분과 이후에는 존댓말을 썼고, 평소에는 그런 말을 한 적이 없었다.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당사자 간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(통화 중)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“아 진짜, (우발적으로 욕설) …”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1732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9A73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37160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EFE4C9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“그렇게 말씀하시면 곤란합니다.”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85800" y="499262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 (곧 누그러져)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23036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“…알겠습니다. 그 부분은 이렇게 처리하시죠.” (이후 존댓말)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3F7D5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3F7D5B"/>
          </a:solidFill>
          <a:ln/>
        </p:spPr>
      </p:sp>
      <p:sp>
        <p:nvSpPr>
          <p:cNvPr id="29" name="Text 27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7D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X — 괴롭힘 불인정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우발적 1회성·이후 태도·평소 관계를 종합해 괴롭힘으로 보지 않았습니다. 단, 같은 1회라도 공개적·중대하면 결론이 달라질 수 있습니다.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실제 판례 7 — 헷갈리는 경계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사례 ⑦  질책하다 고성, “녹음 지워요”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5" name="Text 3"/>
          <p:cNvSpPr/>
          <p:nvPr/>
        </p:nvSpPr>
        <p:spPr>
          <a:xfrm>
            <a:off x="9859975" y="9326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경계선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943600" cy="105156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73152" cy="1051560"/>
          </a:xfrm>
          <a:prstGeom prst="rect">
            <a:avLst/>
          </a:prstGeom>
          <a:solidFill>
            <a:srgbClr val="B5828C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182880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과장이 보고 누락 문제로 직원을 질책하는 과정에서 고성을 질렀고, ‘녹음을 지우라’고도 했다. 다만 이는 업무 시간 중 중간보고자도 함께 부른 자리에서 우발적으로 한 차례 있었고, 이후 반복되지 않았다.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035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당사자 간 대화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34670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과장 (질책 중)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58444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8444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“이걸 보고도 안 했다는 게 말이 됩니까!” (고성)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41696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407408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F4EDF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074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“방금 녹음한 거 있으면 지우세요.”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31520" y="49926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중간보고자도 함께 있던 자리에서 한 차례 있었고, 이후 고성·폭언이 반복되지 않았다.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17830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Q.  직장 내 괴롭힘일까요?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132320" y="2377440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377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909560" y="2377440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괴롭힘에 해당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090672"/>
            <a:ext cx="4419295" cy="566928"/>
          </a:xfrm>
          <a:prstGeom prst="roundRect">
            <a:avLst>
              <a:gd name="adj" fmla="val 9677"/>
            </a:avLst>
          </a:prstGeom>
          <a:solidFill>
            <a:srgbClr val="3F7D5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0" y="30906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X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909560" y="3090672"/>
            <a:ext cx="3504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괴롭힘이 아님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32320" y="4069080"/>
            <a:ext cx="4419295" cy="178308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6" name="Shape 24"/>
          <p:cNvSpPr/>
          <p:nvPr/>
        </p:nvSpPr>
        <p:spPr>
          <a:xfrm>
            <a:off x="7132320" y="4069080"/>
            <a:ext cx="91440" cy="1783080"/>
          </a:xfrm>
          <a:prstGeom prst="rect">
            <a:avLst/>
          </a:prstGeom>
          <a:solidFill>
            <a:srgbClr val="3F7D5B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4206240"/>
            <a:ext cx="3962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7D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정답:  X — 괴롭힘 불인정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406640" y="4663440"/>
            <a:ext cx="39620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질책 과정에서 우발적·일회적으로 나온 부적절한 언행이어서 괴롭힘으로 보지 않았습니다. 반복·지속됐다면 결론이 달라집니다. (2021나42155 판결)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73736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GRAY ZONE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“그럼 업무 지적도 못 하나요?”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371600" cy="13716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852928"/>
            <a:ext cx="603504" cy="603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26060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아닙니다. 정당한 관리행위는 법이 보호합니다.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651760" y="333756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성과에 대한 정당한 지적, 합리적인 업무 지시와 평가, 필요한 피드백은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 내 괴롭힘이 아닙니다. 차이는 ‘내용’이 아니라 ‘방식과 태도’에 있습니다.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HOW TO JUDGE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업무 vs 괴롭힘 — 4가지 기준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 관련성·목적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업무와 관련된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목적인가?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201168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5420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수단·표현의 적정성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표현과 방식이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적정했는가?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542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반복·지속성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일회성인가,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반복·지속되는가?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06840" y="2011680"/>
            <a:ext cx="25603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5420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291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망신 여부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사람 앞에서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망신을 줬는가?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SAME SITUATION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성과 지적, 갈리는 행동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3383280"/>
          </a:xfrm>
          <a:prstGeom prst="rect">
            <a:avLst/>
          </a:prstGeom>
          <a:solidFill>
            <a:srgbClr val="EEF5F0"/>
          </a:solidFill>
          <a:ln w="12700">
            <a:solidFill>
              <a:srgbClr val="CFE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4048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7D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관리행위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005840" y="3246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면담실에서, 성과 미달이라는 사실에 근거해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 방향을 차분히 한 차례 짚어줍니다.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349240" cy="3383280"/>
          </a:xfrm>
          <a:prstGeom prst="rect">
            <a:avLst/>
          </a:prstGeom>
          <a:solidFill>
            <a:srgbClr val="FAEEEE"/>
          </a:solidFill>
          <a:ln w="12700">
            <a:solidFill>
              <a:srgbClr val="F0D2D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2860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40487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377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B3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직장 내 괴롭힘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3246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사무실 한복판에서, 여러 사람 앞에 두고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인격을 깎아내리며 반복적으로 질책합니다.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차이는 ‘내용’이 아니라 ‘방식과 태도’에 있습니다.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괴롭힘을 인지했다면 — 신고와 대응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423160" cy="137160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신고·접수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10896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423160" cy="137160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사실 확인 조사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89788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2423160" cy="137160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4652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 보호·분리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0" y="2468880"/>
            <a:ext cx="36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06840" y="2148840"/>
            <a:ext cx="2423160" cy="1371600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2860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3544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조치·재발 방지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10911535" cy="214884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794760"/>
            <a:ext cx="1008857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 채널 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사내 신고 창구 외에, 고용노동부(국번 없이 1350) 또는 관할 지방고용노동관서에도 진정할 수 있습니다.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보호 원칙 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신고자·피해자에 대한 불이익 조치 금지, 조사 과정의 비밀 보호.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법적 책임   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불이익 조치 시 3년 이하 징역 또는 3천만원 이하 벌금, 조사·비밀유지 의무 위반 시 500만원 이하 과태료.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194560"/>
            <a:ext cx="1920240" cy="1920240"/>
          </a:xfrm>
          <a:prstGeom prst="ellipse">
            <a:avLst/>
          </a:prstGeom>
          <a:solidFill>
            <a:srgbClr val="3F1E3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27889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목격자의 역할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" y="4572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방관하지 않기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394960" y="1783080"/>
            <a:ext cx="502920" cy="5029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080760" y="1691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“괜찮아요?” 한마디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080760" y="2103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피해자에게 다가가 안부를 묻습니다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394960" y="2926080"/>
            <a:ext cx="502920" cy="5029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080760" y="2834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상황을 기억·기록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80760" y="3246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언제·어디서 있었는지 메모해 둡니다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94960" y="4069080"/>
            <a:ext cx="502920" cy="502920"/>
          </a:xfrm>
          <a:prstGeom prst="ellipse">
            <a:avLst/>
          </a:prstGeom>
          <a:solidFill>
            <a:srgbClr val="F4EDF0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08076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신고를 지지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080760" y="43891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신고를 함께 지지하고 도와줍니다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080760" y="5349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침묵은 때로 묵인이 됩니다.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WHY IT HAPPENS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결국, 핵심은 ‘존중’입니다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본 사례들 — 형태는 달라도 공통점은 하나였습니다.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4ED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비하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37560" y="228600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4EDF0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2860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집단 따돌림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4EDF0"/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22860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정당한 권리 무시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732520" y="2286000"/>
            <a:ext cx="2514600" cy="640080"/>
          </a:xfrm>
          <a:prstGeom prst="roundRect">
            <a:avLst>
              <a:gd name="adj" fmla="val 14286"/>
            </a:avLst>
          </a:prstGeom>
          <a:solidFill>
            <a:srgbClr val="F4EDF0"/>
          </a:solidFill>
          <a:ln/>
        </p:spPr>
      </p:sp>
      <p:sp>
        <p:nvSpPr>
          <p:cNvPr id="12" name="Text 10"/>
          <p:cNvSpPr/>
          <p:nvPr/>
        </p:nvSpPr>
        <p:spPr>
          <a:xfrm>
            <a:off x="8732520" y="22860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과한 질책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0080" y="3035808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↓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10911535" cy="1371600"/>
          </a:xfrm>
          <a:prstGeom prst="rect">
            <a:avLst/>
          </a:prstGeom>
          <a:solidFill>
            <a:srgbClr val="3F1E37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931920"/>
            <a:ext cx="777240" cy="777240"/>
          </a:xfrm>
          <a:prstGeom prst="ellipse">
            <a:avLst/>
          </a:prstGeom>
          <a:solidFill>
            <a:srgbClr val="C79A4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4133088"/>
            <a:ext cx="374904" cy="37490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65960" y="3611880"/>
            <a:ext cx="92656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상대를 ‘동등한 사람’으로 존중하지 않은 데서 괴롭힘은 시작됩니다.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4008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법의 3요건도, 회색지대 판단도 — 결국 ‘상대를 존중했는가’로 모입니다.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RESPECT IN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존중하는 일터, 이렇게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072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지적은 따로,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칭찬은 공개로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잘못은 조용히 알려주고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공개 망신은 피합니다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29000" y="20116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92" y="25420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다름을 인정하기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6616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나이·성별·경력·방식의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차이를 존중합니다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25420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권리를 존중하기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휴가·육아휴직 등 정당한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권리에 눈치 주지 않습니다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06840" y="201168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DCE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0" y="2331720"/>
            <a:ext cx="822960" cy="82296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5832" y="2542032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200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끝까지 듣기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0" y="3931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말을 자르지 않고 경청하며</a:t>
            </a:r>
            <a:endParaRPr lang="en-US" sz="125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아무도 배제하지 않습니다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오늘 본 사례들은, 바로 이 네 가지의 반대였습니다.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동료를 존중하고 있나?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지난 한 달, 솔직하게 체크해 보세요.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585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008" y="21305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사람 앞에서 동료를 면박하거나 비웃지 않았다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30906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나이·직급·경력이 달라도 무시하거나 말을 자르지 않았다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1788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40507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단톡방·식사·회의에서 누군가를 의도적으로 빼지 않았다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5080" y="225856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22008" y="213055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동료의 휴가·육아휴직 등 정당한 권리에 눈치 주지 않았다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355080" y="32186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22008" y="309067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지적할 일은 공개 망신 대신 따로 정중히 전했다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355080" y="417880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405079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힘들어 보이는 동료에게 먼저 “괜찮아요?”라고 물었다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349240"/>
            <a:ext cx="10911535" cy="566928"/>
          </a:xfrm>
          <a:prstGeom prst="rect">
            <a:avLst/>
          </a:prstGeom>
          <a:solidFill>
            <a:srgbClr val="F4E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5349240"/>
            <a:ext cx="91440" cy="566928"/>
          </a:xfrm>
          <a:prstGeom prst="rect">
            <a:avLst/>
          </a:prstGeom>
          <a:solidFill>
            <a:srgbClr val="C79A4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34924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체크가 적다면, 오늘부터 바꿀 ‘한 가지’를 정해 보세요.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MY PLEDGE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존중 다짐, 한 문장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5564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오늘부터 실천할 ‘나의 존중 다짐’을 한 문장으로 적어 보세요.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911535" cy="1371600"/>
          </a:xfrm>
          <a:prstGeom prst="rect">
            <a:avLst/>
          </a:prstGeom>
          <a:solidFill>
            <a:srgbClr val="FBF7F9"/>
          </a:solidFill>
          <a:ln w="12700">
            <a:solidFill>
              <a:srgbClr val="E2D4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31720"/>
            <a:ext cx="99971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나는 직장에서  </a:t>
            </a:r>
            <a:pPr algn="ctr" indent="0" marL="0">
              <a:buNone/>
            </a:pPr>
            <a:r>
              <a:rPr lang="en-US" sz="2100" b="1" dirty="0">
                <a:solidFill>
                  <a:srgbClr val="B5828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________________________________</a:t>
            </a:r>
            <a:pPr algn="ctr" indent="0" marL="0">
              <a:buNone/>
            </a:pPr>
            <a:r>
              <a:rPr lang="en-US" sz="2100" b="1" dirty="0">
                <a:solidFill>
                  <a:srgbClr val="2B22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하겠습니다.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작성 예시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3159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4EDF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315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지적은 조용히, 칭찬은 크게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43159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4EDF0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4315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다른 의견도 끝까지 듣기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4315968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4EDF0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431596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아무도 단톡방에서 빼지 않기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6D2E4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— 옆 사람과 한 문장씩 나눠 보세요.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3F1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3200400"/>
            <a:ext cx="5029200" cy="5029200"/>
          </a:xfrm>
          <a:prstGeom prst="ellipse">
            <a:avLst/>
          </a:prstGeom>
          <a:solidFill>
            <a:srgbClr val="6D2E4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1097280" cy="1097280"/>
          </a:xfrm>
          <a:prstGeom prst="ellipse">
            <a:avLst/>
          </a:prstGeom>
          <a:solidFill>
            <a:srgbClr val="C79A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344168"/>
            <a:ext cx="603504" cy="603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OUR CULTURE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우리가 만들 문화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40233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AD9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여성과 가족의 존중을 사회에 이야기하는 곳.</a:t>
            </a:r>
            <a:endParaRPr lang="en-US" sz="2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EAD9E1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그 존중은 우리 사무실 안에서 먼저 지켜져야 합니다.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3F1E37">
              <a:alpha val="7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C79A4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존중하는 일터, 함께 만드는 우리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40080" y="2423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나부터, 오늘부터.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0DE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오늘 적은 다짐 한 문장, 꼭 가져가 주세요.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4526280"/>
            <a:ext cx="2011680" cy="0"/>
          </a:xfrm>
          <a:prstGeom prst="line">
            <a:avLst/>
          </a:prstGeom>
          <a:noFill/>
          <a:ln w="25400">
            <a:solidFill>
              <a:srgbClr val="C79A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0DEE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신고·상담 창구  ______________      |      담당  ______________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DD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함께해 주셔서 고맙습니다.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직장 내 괴롭힘 예방교육</dc:title>
  <dc:subject>PptxGenJS Presentation</dc:subject>
  <dc:creator>전북여성가족재단</dc:creator>
  <cp:lastModifiedBy>전북여성가족재단</cp:lastModifiedBy>
  <cp:revision>1</cp:revision>
  <dcterms:created xsi:type="dcterms:W3CDTF">2026-06-03T08:20:15Z</dcterms:created>
  <dcterms:modified xsi:type="dcterms:W3CDTF">2026-06-03T08:20:15Z</dcterms:modified>
</cp:coreProperties>
</file>